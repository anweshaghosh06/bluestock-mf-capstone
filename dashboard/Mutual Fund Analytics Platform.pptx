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mbria Bold" charset="1" panose="02040803050406030204"/>
      <p:regular r:id="rId21"/>
    </p:embeddedFont>
    <p:embeddedFont>
      <p:font typeface="Calibri (MS) Italics" charset="1" panose="020F05020202040A0204"/>
      <p:regular r:id="rId22"/>
    </p:embeddedFont>
    <p:embeddedFont>
      <p:font typeface="Calibri (MS)" charset="1" panose="020F0502020204030204"/>
      <p:regular r:id="rId23"/>
    </p:embeddedFont>
    <p:embeddedFont>
      <p:font typeface="Courier New" charset="1" panose="020703090202050204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github.com/anweshaghosh06/bluestock-mutual-fund-analytics-platfor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13280" y="-2057400"/>
            <a:ext cx="5486400" cy="5486400"/>
            <a:chOff x="0" y="0"/>
            <a:chExt cx="7315200" cy="731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534AB7">
                <a:alpha val="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057400" y="6858000"/>
            <a:ext cx="4800600" cy="4800600"/>
            <a:chOff x="0" y="0"/>
            <a:chExt cx="6400800" cy="640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00800" cy="6400800"/>
            </a:xfrm>
            <a:custGeom>
              <a:avLst/>
              <a:gdLst/>
              <a:ahLst/>
              <a:cxnLst/>
              <a:rect r="r" b="b" t="t" l="l"/>
              <a:pathLst>
                <a:path h="6400800" w="6400800">
                  <a:moveTo>
                    <a:pt x="0" y="3200400"/>
                  </a:moveTo>
                  <a:cubicBezTo>
                    <a:pt x="0" y="1432814"/>
                    <a:pt x="1432814" y="0"/>
                    <a:pt x="3200400" y="0"/>
                  </a:cubicBezTo>
                  <a:cubicBezTo>
                    <a:pt x="4967986" y="0"/>
                    <a:pt x="6400800" y="1432814"/>
                    <a:pt x="6400800" y="3200400"/>
                  </a:cubicBezTo>
                  <a:cubicBezTo>
                    <a:pt x="6400800" y="4967986"/>
                    <a:pt x="4967986" y="6400800"/>
                    <a:pt x="3200400" y="6400800"/>
                  </a:cubicBezTo>
                  <a:cubicBezTo>
                    <a:pt x="1432814" y="6400800"/>
                    <a:pt x="0" y="4967986"/>
                    <a:pt x="0" y="3200400"/>
                  </a:cubicBezTo>
                  <a:close/>
                </a:path>
              </a:pathLst>
            </a:custGeom>
            <a:solidFill>
              <a:srgbClr val="1D9E75">
                <a:alpha val="588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960120"/>
            <a:ext cx="8229600" cy="685800"/>
            <a:chOff x="0" y="0"/>
            <a:chExt cx="109728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728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600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BLUESTOCK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3566160"/>
            <a:ext cx="15773400" cy="2194560"/>
            <a:chOff x="0" y="0"/>
            <a:chExt cx="21031200" cy="2926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312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031200" cy="2945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Mutual Fund Analytics Platform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440" y="5692140"/>
            <a:ext cx="13030200" cy="1234440"/>
            <a:chOff x="0" y="0"/>
            <a:chExt cx="17373600" cy="1645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736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675" r="0" b="-15567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737360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ETL pipeline, quantitative performance analytics, and a 4-page Power BI dashboard covering 40 mutual fund schemes (2022–2026)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8503920"/>
            <a:ext cx="12344400" cy="1371600"/>
            <a:chOff x="0" y="0"/>
            <a:chExt cx="1645920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5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14300"/>
              <a:ext cx="16459200" cy="1943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6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Anwesha Ghosh</a:t>
              </a:r>
            </a:p>
            <a:p>
              <a:pPr algn="l">
                <a:lnSpc>
                  <a:spcPts val="3276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B.Tech CSE — Institute of Engineering and Management, Kolkata</a:t>
              </a:r>
            </a:p>
            <a:p>
              <a:pPr algn="l">
                <a:lnSpc>
                  <a:spcPts val="3276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Analyst Intern, Bluestock Fintech  |  June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1234440"/>
            <a:chOff x="0" y="0"/>
            <a:chExt cx="217627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7627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&amp; objective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194560"/>
            <a:ext cx="16322040" cy="1371600"/>
            <a:chOff x="0" y="0"/>
            <a:chExt cx="2176272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871" r="0" b="-18187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7627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India's mutual fund industry has grown rapidly, but fund houses and analysts often lack a unified view connecting raw scheme data, investor behaviour, and quantitative risk metrics in one place.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4046220"/>
            <a:ext cx="5280660" cy="3703320"/>
            <a:chOff x="0" y="0"/>
            <a:chExt cx="7040880" cy="4937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0880" cy="4937760"/>
            </a:xfrm>
            <a:custGeom>
              <a:avLst/>
              <a:gdLst/>
              <a:ahLst/>
              <a:cxnLst/>
              <a:rect r="r" b="b" t="t" l="l"/>
              <a:pathLst>
                <a:path h="4937760" w="7040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94576" y="0"/>
                  </a:lnTo>
                  <a:cubicBezTo>
                    <a:pt x="6975348" y="0"/>
                    <a:pt x="7040880" y="65532"/>
                    <a:pt x="7040880" y="146304"/>
                  </a:cubicBezTo>
                  <a:lnTo>
                    <a:pt x="7040880" y="4791456"/>
                  </a:lnTo>
                  <a:cubicBezTo>
                    <a:pt x="7040880" y="4872228"/>
                    <a:pt x="6975348" y="4937760"/>
                    <a:pt x="6894576" y="4937760"/>
                  </a:cubicBezTo>
                  <a:lnTo>
                    <a:pt x="146304" y="4937760"/>
                  </a:lnTo>
                  <a:cubicBezTo>
                    <a:pt x="65532" y="4937760"/>
                    <a:pt x="0" y="4872228"/>
                    <a:pt x="0" y="4791456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4457700"/>
            <a:ext cx="685800" cy="685800"/>
            <a:chOff x="0" y="0"/>
            <a:chExt cx="914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34AB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1600" y="4457700"/>
            <a:ext cx="685800" cy="685800"/>
            <a:chOff x="0" y="0"/>
            <a:chExt cx="9144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71600" y="5417820"/>
            <a:ext cx="4457700" cy="685800"/>
            <a:chOff x="0" y="0"/>
            <a:chExt cx="59436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59436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Unify the data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1600" y="6172200"/>
            <a:ext cx="4457700" cy="1508760"/>
            <a:chOff x="0" y="0"/>
            <a:chExt cx="5943600" cy="2011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9436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69" r="0" b="-756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5943600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Combine 10 raw datasets and a live NAV API into a single queryable SQLite warehouse.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720840" y="4046220"/>
            <a:ext cx="5280660" cy="3703320"/>
            <a:chOff x="0" y="0"/>
            <a:chExt cx="7040880" cy="4937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40880" cy="4937760"/>
            </a:xfrm>
            <a:custGeom>
              <a:avLst/>
              <a:gdLst/>
              <a:ahLst/>
              <a:cxnLst/>
              <a:rect r="r" b="b" t="t" l="l"/>
              <a:pathLst>
                <a:path h="4937760" w="7040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94576" y="0"/>
                  </a:lnTo>
                  <a:cubicBezTo>
                    <a:pt x="6975348" y="0"/>
                    <a:pt x="7040880" y="65532"/>
                    <a:pt x="7040880" y="146304"/>
                  </a:cubicBezTo>
                  <a:lnTo>
                    <a:pt x="7040880" y="4791456"/>
                  </a:lnTo>
                  <a:cubicBezTo>
                    <a:pt x="7040880" y="4872228"/>
                    <a:pt x="6975348" y="4937760"/>
                    <a:pt x="6894576" y="4937760"/>
                  </a:cubicBezTo>
                  <a:lnTo>
                    <a:pt x="146304" y="4937760"/>
                  </a:lnTo>
                  <a:cubicBezTo>
                    <a:pt x="65532" y="4937760"/>
                    <a:pt x="0" y="4872228"/>
                    <a:pt x="0" y="4791456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132320" y="4457700"/>
            <a:ext cx="685800" cy="685800"/>
            <a:chOff x="0" y="0"/>
            <a:chExt cx="91440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34AB7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132320" y="4457700"/>
            <a:ext cx="685800" cy="685800"/>
            <a:chOff x="0" y="0"/>
            <a:chExt cx="91440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132320" y="5417820"/>
            <a:ext cx="4457700" cy="685800"/>
            <a:chOff x="0" y="0"/>
            <a:chExt cx="59436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59436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Quantify performance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32320" y="6172200"/>
            <a:ext cx="4457700" cy="1508760"/>
            <a:chOff x="0" y="0"/>
            <a:chExt cx="5943600" cy="2011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436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69" r="0" b="-756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5943600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 CAGR, Sharpe, Sortino, Alpha/Beta, drawdown, VaR/CVaR for all 40 schemes.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481560" y="4046220"/>
            <a:ext cx="5280660" cy="3703320"/>
            <a:chOff x="0" y="0"/>
            <a:chExt cx="7040880" cy="49377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40880" cy="4937760"/>
            </a:xfrm>
            <a:custGeom>
              <a:avLst/>
              <a:gdLst/>
              <a:ahLst/>
              <a:cxnLst/>
              <a:rect r="r" b="b" t="t" l="l"/>
              <a:pathLst>
                <a:path h="4937760" w="7040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94576" y="0"/>
                  </a:lnTo>
                  <a:cubicBezTo>
                    <a:pt x="6975348" y="0"/>
                    <a:pt x="7040880" y="65532"/>
                    <a:pt x="7040880" y="146304"/>
                  </a:cubicBezTo>
                  <a:lnTo>
                    <a:pt x="7040880" y="4791456"/>
                  </a:lnTo>
                  <a:cubicBezTo>
                    <a:pt x="7040880" y="4872228"/>
                    <a:pt x="6975348" y="4937760"/>
                    <a:pt x="6894576" y="4937760"/>
                  </a:cubicBezTo>
                  <a:lnTo>
                    <a:pt x="146304" y="4937760"/>
                  </a:lnTo>
                  <a:cubicBezTo>
                    <a:pt x="65532" y="4937760"/>
                    <a:pt x="0" y="4872228"/>
                    <a:pt x="0" y="4791456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893040" y="4457700"/>
            <a:ext cx="685800" cy="685800"/>
            <a:chOff x="0" y="0"/>
            <a:chExt cx="91440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34AB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893040" y="4457700"/>
            <a:ext cx="685800" cy="685800"/>
            <a:chOff x="0" y="0"/>
            <a:chExt cx="9144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893040" y="5417820"/>
            <a:ext cx="4457700" cy="685800"/>
            <a:chOff x="0" y="0"/>
            <a:chExt cx="59436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59436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Surface insights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893040" y="6172200"/>
            <a:ext cx="4457700" cy="1508760"/>
            <a:chOff x="0" y="0"/>
            <a:chExt cx="5943600" cy="20116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9436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69" r="0" b="-756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5943600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 a 4-page interactive Power BI dashboard for industry, fund, and investor analytics.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0120" y="8092440"/>
            <a:ext cx="16322040" cy="1577340"/>
            <a:chOff x="0" y="0"/>
            <a:chExt cx="21762720" cy="21031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7627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1762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616415" y="0"/>
                  </a:lnTo>
                  <a:cubicBezTo>
                    <a:pt x="21697187" y="0"/>
                    <a:pt x="21762720" y="65532"/>
                    <a:pt x="21762720" y="146304"/>
                  </a:cubicBezTo>
                  <a:lnTo>
                    <a:pt x="21762720" y="1956816"/>
                  </a:lnTo>
                  <a:cubicBezTo>
                    <a:pt x="21762720" y="2037588"/>
                    <a:pt x="21697187" y="2103120"/>
                    <a:pt x="21616415" y="2103120"/>
                  </a:cubicBezTo>
                  <a:lnTo>
                    <a:pt x="146304" y="2103120"/>
                  </a:lnTo>
                  <a:cubicBezTo>
                    <a:pt x="65532" y="2103120"/>
                    <a:pt x="0" y="2037588"/>
                    <a:pt x="0" y="195681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03020" y="8092440"/>
            <a:ext cx="15636240" cy="1577340"/>
            <a:chOff x="0" y="0"/>
            <a:chExt cx="20848320" cy="21031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8483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156" r="0" b="-14315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20848320" cy="2150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₹68+ lakh crore</a:t>
              </a: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Indian mutual fund industry AUM — the scale this analytics platform is built to navigate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1234440"/>
            <a:chOff x="0" y="0"/>
            <a:chExt cx="217627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7627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 sources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988820"/>
            <a:ext cx="16322040" cy="685800"/>
            <a:chOff x="0" y="0"/>
            <a:chExt cx="2176272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7627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5F5E5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10 structured CSVs plus a live NAV feed, spanning January 2022 to June 2026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60120" y="2948940"/>
          <a:ext cx="16287750" cy="6400800"/>
        </p:xfrm>
        <a:graphic>
          <a:graphicData uri="http://schemas.openxmlformats.org/drawingml/2006/table">
            <a:tbl>
              <a:tblPr/>
              <a:tblGrid>
                <a:gridCol w="5429250"/>
                <a:gridCol w="5429250"/>
                <a:gridCol w="5429250"/>
              </a:tblGrid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Dataset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Description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Rows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01_fund_master.csv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Scheme metadata — fund house, category, risk grade, expense ratio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02_nav_history.csv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Daily NAV history per scheme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52,400+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03_aum_by_fund_house.csv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Monthly AUM per AMC, 2022–2025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480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04_monthly_sip_inflows.csv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Industry-wide monthly SIP inflow totals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05_category_inflows.csv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Net inflow by fund category, monthly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144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06_industry_folio_count.csv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Industry folio count, monthly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07_scheme_performance.csv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1Y/3Y/5Y returns, Sharpe, expense ratio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08_investor_transactions.csv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SIP / Lumpsum / Redemption transactions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15,000+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09_portfolio_holdings.csv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Sector-level portfolio weights per scheme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10_benchmark_indices.csv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Nifty 50 / Nifty 100 daily values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2,280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6215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Live NAV API (mfapi.in)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6215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Real-time NAV fetch for HDFC Top 100 + 5 bluechip schemes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6215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6 endpoints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1234440"/>
            <a:chOff x="0" y="0"/>
            <a:chExt cx="217627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7627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988820"/>
            <a:ext cx="16322040" cy="822960"/>
            <a:chOff x="0" y="0"/>
            <a:chExt cx="2176272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6453" r="0" b="-33645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 CSVs and a live NAV API flow through ETL into a star-schema SQLite database, powering both the Python analytics layer and the Power BI dashboard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3800" y="3556635"/>
            <a:ext cx="2967990" cy="2076450"/>
            <a:chOff x="0" y="0"/>
            <a:chExt cx="3957320" cy="2768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573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39573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3809619" y="0"/>
                  </a:lnTo>
                  <a:cubicBezTo>
                    <a:pt x="3891153" y="0"/>
                    <a:pt x="3957320" y="66167"/>
                    <a:pt x="3957320" y="147701"/>
                  </a:cubicBezTo>
                  <a:lnTo>
                    <a:pt x="3957320" y="2620899"/>
                  </a:lnTo>
                  <a:cubicBezTo>
                    <a:pt x="3957320" y="2702433"/>
                    <a:pt x="3891153" y="2768600"/>
                    <a:pt x="38096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888780">
                <a:alpha val="1176"/>
              </a:srgbClr>
            </a:solidFill>
            <a:ln w="19050" cap="sq">
              <a:solidFill>
                <a:srgbClr val="88878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7917" y="3840480"/>
            <a:ext cx="2619756" cy="754380"/>
            <a:chOff x="0" y="0"/>
            <a:chExt cx="3493008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9300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666" r="0" b="-1766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3493008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Raw data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67917" y="4636008"/>
            <a:ext cx="2619756" cy="822960"/>
            <a:chOff x="0" y="0"/>
            <a:chExt cx="3493008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930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27" r="0" b="-1202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493008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CSVs + live API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979697" y="4389120"/>
            <a:ext cx="301752" cy="411480"/>
            <a:chOff x="0" y="0"/>
            <a:chExt cx="402336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2336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">
                  <a:moveTo>
                    <a:pt x="0" y="137160"/>
                  </a:moveTo>
                  <a:lnTo>
                    <a:pt x="201168" y="137160"/>
                  </a:lnTo>
                  <a:lnTo>
                    <a:pt x="201168" y="0"/>
                  </a:lnTo>
                  <a:lnTo>
                    <a:pt x="402336" y="274320"/>
                  </a:lnTo>
                  <a:lnTo>
                    <a:pt x="201168" y="548640"/>
                  </a:lnTo>
                  <a:lnTo>
                    <a:pt x="201168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B4B2A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326788" y="3556635"/>
            <a:ext cx="2967990" cy="2076450"/>
            <a:chOff x="0" y="0"/>
            <a:chExt cx="3957320" cy="2768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573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39573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3809619" y="0"/>
                  </a:lnTo>
                  <a:cubicBezTo>
                    <a:pt x="3891153" y="0"/>
                    <a:pt x="3957320" y="66167"/>
                    <a:pt x="3957320" y="147701"/>
                  </a:cubicBezTo>
                  <a:lnTo>
                    <a:pt x="3957320" y="2620899"/>
                  </a:lnTo>
                  <a:cubicBezTo>
                    <a:pt x="3957320" y="2702433"/>
                    <a:pt x="3891153" y="2768600"/>
                    <a:pt x="38096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534AB7">
                <a:alpha val="1176"/>
              </a:srgbClr>
            </a:solidFill>
            <a:ln w="19050" cap="sq">
              <a:solidFill>
                <a:srgbClr val="534AB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500905" y="3840480"/>
            <a:ext cx="2619756" cy="754380"/>
            <a:chOff x="0" y="0"/>
            <a:chExt cx="3493008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9300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666" r="0" b="-1766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493008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ETL pipeline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500905" y="4636008"/>
            <a:ext cx="2619756" cy="822960"/>
            <a:chOff x="0" y="0"/>
            <a:chExt cx="3493008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930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27" r="0" b="-1202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493008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 &amp; validate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12685" y="4389120"/>
            <a:ext cx="301752" cy="411480"/>
            <a:chOff x="0" y="0"/>
            <a:chExt cx="402336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2336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">
                  <a:moveTo>
                    <a:pt x="0" y="137160"/>
                  </a:moveTo>
                  <a:lnTo>
                    <a:pt x="201168" y="137160"/>
                  </a:lnTo>
                  <a:lnTo>
                    <a:pt x="201168" y="0"/>
                  </a:lnTo>
                  <a:lnTo>
                    <a:pt x="402336" y="274320"/>
                  </a:lnTo>
                  <a:lnTo>
                    <a:pt x="201168" y="548640"/>
                  </a:lnTo>
                  <a:lnTo>
                    <a:pt x="201168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B4B2A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659776" y="3556635"/>
            <a:ext cx="2967990" cy="2076450"/>
            <a:chOff x="0" y="0"/>
            <a:chExt cx="3957320" cy="2768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573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39573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3809619" y="0"/>
                  </a:lnTo>
                  <a:cubicBezTo>
                    <a:pt x="3891153" y="0"/>
                    <a:pt x="3957320" y="66167"/>
                    <a:pt x="3957320" y="147701"/>
                  </a:cubicBezTo>
                  <a:lnTo>
                    <a:pt x="3957320" y="2620899"/>
                  </a:lnTo>
                  <a:cubicBezTo>
                    <a:pt x="3957320" y="2702433"/>
                    <a:pt x="3891153" y="2768600"/>
                    <a:pt x="38096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534AB7">
                <a:alpha val="1176"/>
              </a:srgbClr>
            </a:solidFill>
            <a:ln w="19050" cap="sq">
              <a:solidFill>
                <a:srgbClr val="534AB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833893" y="3840480"/>
            <a:ext cx="2619756" cy="754380"/>
            <a:chOff x="0" y="0"/>
            <a:chExt cx="3493008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9300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666" r="0" b="-1766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3493008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SQLite DB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833893" y="4636008"/>
            <a:ext cx="2619756" cy="822960"/>
            <a:chOff x="0" y="0"/>
            <a:chExt cx="3493008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930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27" r="0" b="-1202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3493008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Star schema, 6 tables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645673" y="4389120"/>
            <a:ext cx="301752" cy="411480"/>
            <a:chOff x="0" y="0"/>
            <a:chExt cx="402336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2336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">
                  <a:moveTo>
                    <a:pt x="0" y="137160"/>
                  </a:moveTo>
                  <a:lnTo>
                    <a:pt x="201168" y="137160"/>
                  </a:lnTo>
                  <a:lnTo>
                    <a:pt x="201168" y="0"/>
                  </a:lnTo>
                  <a:lnTo>
                    <a:pt x="402336" y="274320"/>
                  </a:lnTo>
                  <a:lnTo>
                    <a:pt x="201168" y="548640"/>
                  </a:lnTo>
                  <a:lnTo>
                    <a:pt x="201168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B4B2A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992764" y="3556635"/>
            <a:ext cx="2967990" cy="2076450"/>
            <a:chOff x="0" y="0"/>
            <a:chExt cx="3957320" cy="2768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9573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39573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3809619" y="0"/>
                  </a:lnTo>
                  <a:cubicBezTo>
                    <a:pt x="3891153" y="0"/>
                    <a:pt x="3957320" y="66167"/>
                    <a:pt x="3957320" y="147701"/>
                  </a:cubicBezTo>
                  <a:lnTo>
                    <a:pt x="3957320" y="2620899"/>
                  </a:lnTo>
                  <a:cubicBezTo>
                    <a:pt x="3957320" y="2702433"/>
                    <a:pt x="3891153" y="2768600"/>
                    <a:pt x="38096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1D9E75">
                <a:alpha val="1176"/>
              </a:srgbClr>
            </a:solidFill>
            <a:ln w="19050" cap="sq">
              <a:solidFill>
                <a:srgbClr val="1D9E75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166881" y="3840480"/>
            <a:ext cx="2619756" cy="754380"/>
            <a:chOff x="0" y="0"/>
            <a:chExt cx="3493008" cy="1005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49300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666" r="0" b="-1766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3493008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Analytics layer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166881" y="4636008"/>
            <a:ext cx="2619756" cy="822960"/>
            <a:chOff x="0" y="0"/>
            <a:chExt cx="3493008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4930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27" r="0" b="-1202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3493008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Quant metrics, EDA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978661" y="4389120"/>
            <a:ext cx="301752" cy="411480"/>
            <a:chOff x="0" y="0"/>
            <a:chExt cx="402336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02336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">
                  <a:moveTo>
                    <a:pt x="0" y="137160"/>
                  </a:moveTo>
                  <a:lnTo>
                    <a:pt x="201168" y="137160"/>
                  </a:lnTo>
                  <a:lnTo>
                    <a:pt x="201168" y="0"/>
                  </a:lnTo>
                  <a:lnTo>
                    <a:pt x="402336" y="274320"/>
                  </a:lnTo>
                  <a:lnTo>
                    <a:pt x="201168" y="548640"/>
                  </a:lnTo>
                  <a:lnTo>
                    <a:pt x="201168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B4B2A9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325752" y="3556635"/>
            <a:ext cx="2967990" cy="2076450"/>
            <a:chOff x="0" y="0"/>
            <a:chExt cx="3957320" cy="2768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73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39573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3809619" y="0"/>
                  </a:lnTo>
                  <a:cubicBezTo>
                    <a:pt x="3891153" y="0"/>
                    <a:pt x="3957320" y="66167"/>
                    <a:pt x="3957320" y="147701"/>
                  </a:cubicBezTo>
                  <a:lnTo>
                    <a:pt x="3957320" y="2620899"/>
                  </a:lnTo>
                  <a:cubicBezTo>
                    <a:pt x="3957320" y="2702433"/>
                    <a:pt x="3891153" y="2768600"/>
                    <a:pt x="38096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1D9E75">
                <a:alpha val="1176"/>
              </a:srgbClr>
            </a:solidFill>
            <a:ln w="19050" cap="sq">
              <a:solidFill>
                <a:srgbClr val="1D9E75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4499869" y="3840480"/>
            <a:ext cx="2619756" cy="754380"/>
            <a:chOff x="0" y="0"/>
            <a:chExt cx="3493008" cy="1005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49300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666" r="0" b="-1766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3493008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Power BI + recommender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499869" y="4636008"/>
            <a:ext cx="2619756" cy="822960"/>
            <a:chOff x="0" y="0"/>
            <a:chExt cx="3493008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4930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27" r="0" b="-1202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3493008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4-page dashboard, CLI tool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0120" y="6172200"/>
            <a:ext cx="16322040" cy="548640"/>
            <a:chOff x="0" y="0"/>
            <a:chExt cx="2176272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1762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Star schema — SQLite database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680960" y="7680960"/>
            <a:ext cx="2880360" cy="1097280"/>
            <a:chOff x="0" y="0"/>
            <a:chExt cx="3840480" cy="14630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840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840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730752" y="0"/>
                  </a:lnTo>
                  <a:cubicBezTo>
                    <a:pt x="3791331" y="0"/>
                    <a:pt x="3840480" y="49149"/>
                    <a:pt x="3840480" y="109728"/>
                  </a:cubicBezTo>
                  <a:lnTo>
                    <a:pt x="3840480" y="1353312"/>
                  </a:lnTo>
                  <a:cubicBezTo>
                    <a:pt x="3840480" y="1413891"/>
                    <a:pt x="3791331" y="1463040"/>
                    <a:pt x="3730752" y="1463040"/>
                  </a:cubicBezTo>
                  <a:lnTo>
                    <a:pt x="109728" y="1463040"/>
                  </a:lnTo>
                  <a:cubicBezTo>
                    <a:pt x="49149" y="1463040"/>
                    <a:pt x="0" y="1413891"/>
                    <a:pt x="0" y="135331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7680960" y="7680960"/>
            <a:ext cx="2880360" cy="1097280"/>
            <a:chOff x="0" y="0"/>
            <a:chExt cx="3840480" cy="14630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840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384048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fact_nav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Daily NAV records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187416" y="7125176"/>
            <a:ext cx="2894648" cy="974407"/>
            <a:chOff x="0" y="0"/>
            <a:chExt cx="3859530" cy="129921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859530" cy="1299210"/>
            </a:xfrm>
            <a:custGeom>
              <a:avLst/>
              <a:gdLst/>
              <a:ahLst/>
              <a:cxnLst/>
              <a:rect r="r" b="b" t="t" l="l"/>
              <a:pathLst>
                <a:path h="1299210" w="3859530">
                  <a:moveTo>
                    <a:pt x="0" y="111379"/>
                  </a:moveTo>
                  <a:cubicBezTo>
                    <a:pt x="0" y="49911"/>
                    <a:pt x="49911" y="0"/>
                    <a:pt x="111379" y="0"/>
                  </a:cubicBezTo>
                  <a:lnTo>
                    <a:pt x="3748151" y="0"/>
                  </a:lnTo>
                  <a:cubicBezTo>
                    <a:pt x="3809619" y="0"/>
                    <a:pt x="3859530" y="49911"/>
                    <a:pt x="3859530" y="111379"/>
                  </a:cubicBezTo>
                  <a:lnTo>
                    <a:pt x="3859530" y="1187831"/>
                  </a:lnTo>
                  <a:cubicBezTo>
                    <a:pt x="3859530" y="1249299"/>
                    <a:pt x="3809619" y="1299210"/>
                    <a:pt x="3748151" y="1299210"/>
                  </a:cubicBezTo>
                  <a:lnTo>
                    <a:pt x="111379" y="1299210"/>
                  </a:lnTo>
                  <a:cubicBezTo>
                    <a:pt x="49911" y="1299210"/>
                    <a:pt x="0" y="1249299"/>
                    <a:pt x="0" y="1187831"/>
                  </a:cubicBezTo>
                  <a:close/>
                </a:path>
              </a:pathLst>
            </a:custGeom>
            <a:solidFill>
              <a:srgbClr val="F1EFE8"/>
            </a:solidFill>
            <a:ln w="14288" cap="sq">
              <a:solidFill>
                <a:srgbClr val="D3D1C7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2194560" y="7132320"/>
            <a:ext cx="2880360" cy="960120"/>
            <a:chOff x="0" y="0"/>
            <a:chExt cx="3840480" cy="12801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840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38404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62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dim_fund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Scheme metadata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065395" y="7602855"/>
            <a:ext cx="2625090" cy="636270"/>
            <a:chOff x="0" y="0"/>
            <a:chExt cx="3500120" cy="8483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500120" cy="848360"/>
            </a:xfrm>
            <a:custGeom>
              <a:avLst/>
              <a:gdLst/>
              <a:ahLst/>
              <a:cxnLst/>
              <a:rect r="r" b="b" t="t" l="l"/>
              <a:pathLst>
                <a:path h="848360" w="3500120">
                  <a:moveTo>
                    <a:pt x="0" y="0"/>
                  </a:moveTo>
                  <a:lnTo>
                    <a:pt x="3500120" y="84836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30390" r="0" b="-30390"/>
              </a:stretch>
            </a:blipFill>
            <a:ln w="19050" cap="sq">
              <a:solidFill>
                <a:srgbClr val="B4B2A9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2187416" y="8771096"/>
            <a:ext cx="2894648" cy="974407"/>
            <a:chOff x="0" y="0"/>
            <a:chExt cx="3859530" cy="129921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859530" cy="1299210"/>
            </a:xfrm>
            <a:custGeom>
              <a:avLst/>
              <a:gdLst/>
              <a:ahLst/>
              <a:cxnLst/>
              <a:rect r="r" b="b" t="t" l="l"/>
              <a:pathLst>
                <a:path h="1299210" w="3859530">
                  <a:moveTo>
                    <a:pt x="0" y="111379"/>
                  </a:moveTo>
                  <a:cubicBezTo>
                    <a:pt x="0" y="49911"/>
                    <a:pt x="49911" y="0"/>
                    <a:pt x="111379" y="0"/>
                  </a:cubicBezTo>
                  <a:lnTo>
                    <a:pt x="3748151" y="0"/>
                  </a:lnTo>
                  <a:cubicBezTo>
                    <a:pt x="3809619" y="0"/>
                    <a:pt x="3859530" y="49911"/>
                    <a:pt x="3859530" y="111379"/>
                  </a:cubicBezTo>
                  <a:lnTo>
                    <a:pt x="3859530" y="1187831"/>
                  </a:lnTo>
                  <a:cubicBezTo>
                    <a:pt x="3859530" y="1249299"/>
                    <a:pt x="3809619" y="1299210"/>
                    <a:pt x="3748151" y="1299210"/>
                  </a:cubicBezTo>
                  <a:lnTo>
                    <a:pt x="111379" y="1299210"/>
                  </a:lnTo>
                  <a:cubicBezTo>
                    <a:pt x="49911" y="1299210"/>
                    <a:pt x="0" y="1249299"/>
                    <a:pt x="0" y="1187831"/>
                  </a:cubicBezTo>
                  <a:close/>
                </a:path>
              </a:pathLst>
            </a:custGeom>
            <a:solidFill>
              <a:srgbClr val="F1EFE8"/>
            </a:solidFill>
            <a:ln w="14288" cap="sq">
              <a:solidFill>
                <a:srgbClr val="D3D1C7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2194560" y="8778240"/>
            <a:ext cx="2880360" cy="960120"/>
            <a:chOff x="0" y="0"/>
            <a:chExt cx="3840480" cy="12801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840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8404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62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dim_date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Calendar attributes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5065395" y="8220075"/>
            <a:ext cx="2625090" cy="1047750"/>
            <a:chOff x="0" y="0"/>
            <a:chExt cx="3500120" cy="13970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50012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500120">
                  <a:moveTo>
                    <a:pt x="0" y="1397000"/>
                  </a:moveTo>
                  <a:lnTo>
                    <a:pt x="350012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209" t="0" r="-1209" b="0"/>
              </a:stretch>
            </a:blipFill>
            <a:ln w="19050" cap="sq">
              <a:solidFill>
                <a:srgbClr val="B4B2A9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3160216" y="7125176"/>
            <a:ext cx="2894648" cy="974407"/>
            <a:chOff x="0" y="0"/>
            <a:chExt cx="3859530" cy="129921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859530" cy="1299210"/>
            </a:xfrm>
            <a:custGeom>
              <a:avLst/>
              <a:gdLst/>
              <a:ahLst/>
              <a:cxnLst/>
              <a:rect r="r" b="b" t="t" l="l"/>
              <a:pathLst>
                <a:path h="1299210" w="3859530">
                  <a:moveTo>
                    <a:pt x="0" y="111379"/>
                  </a:moveTo>
                  <a:cubicBezTo>
                    <a:pt x="0" y="49911"/>
                    <a:pt x="49911" y="0"/>
                    <a:pt x="111379" y="0"/>
                  </a:cubicBezTo>
                  <a:lnTo>
                    <a:pt x="3748151" y="0"/>
                  </a:lnTo>
                  <a:cubicBezTo>
                    <a:pt x="3809619" y="0"/>
                    <a:pt x="3859530" y="49911"/>
                    <a:pt x="3859530" y="111379"/>
                  </a:cubicBezTo>
                  <a:lnTo>
                    <a:pt x="3859530" y="1187831"/>
                  </a:lnTo>
                  <a:cubicBezTo>
                    <a:pt x="3859530" y="1249299"/>
                    <a:pt x="3809619" y="1299210"/>
                    <a:pt x="3748151" y="1299210"/>
                  </a:cubicBezTo>
                  <a:lnTo>
                    <a:pt x="111379" y="1299210"/>
                  </a:lnTo>
                  <a:cubicBezTo>
                    <a:pt x="49911" y="1299210"/>
                    <a:pt x="0" y="1249299"/>
                    <a:pt x="0" y="1187831"/>
                  </a:cubicBezTo>
                  <a:close/>
                </a:path>
              </a:pathLst>
            </a:custGeom>
            <a:solidFill>
              <a:srgbClr val="F1EFE8"/>
            </a:solidFill>
            <a:ln w="14288" cap="sq">
              <a:solidFill>
                <a:srgbClr val="D3D1C7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3167360" y="7132320"/>
            <a:ext cx="2880360" cy="960120"/>
            <a:chOff x="0" y="0"/>
            <a:chExt cx="3840480" cy="12801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840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38404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62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fact_transactions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SIP/Lumpsum/Redemption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551795" y="7602855"/>
            <a:ext cx="2625090" cy="636270"/>
            <a:chOff x="0" y="0"/>
            <a:chExt cx="3500120" cy="8483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500120" cy="848360"/>
            </a:xfrm>
            <a:custGeom>
              <a:avLst/>
              <a:gdLst/>
              <a:ahLst/>
              <a:cxnLst/>
              <a:rect r="r" b="b" t="t" l="l"/>
              <a:pathLst>
                <a:path h="848360" w="3500120">
                  <a:moveTo>
                    <a:pt x="0" y="0"/>
                  </a:moveTo>
                  <a:lnTo>
                    <a:pt x="3500120" y="84836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30390" r="0" b="-30390"/>
              </a:stretch>
            </a:blipFill>
            <a:ln w="19050" cap="sq">
              <a:solidFill>
                <a:srgbClr val="B4B2A9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3160216" y="8771096"/>
            <a:ext cx="2894648" cy="974407"/>
            <a:chOff x="0" y="0"/>
            <a:chExt cx="3859530" cy="129921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859530" cy="1299210"/>
            </a:xfrm>
            <a:custGeom>
              <a:avLst/>
              <a:gdLst/>
              <a:ahLst/>
              <a:cxnLst/>
              <a:rect r="r" b="b" t="t" l="l"/>
              <a:pathLst>
                <a:path h="1299210" w="3859530">
                  <a:moveTo>
                    <a:pt x="0" y="111379"/>
                  </a:moveTo>
                  <a:cubicBezTo>
                    <a:pt x="0" y="49911"/>
                    <a:pt x="49911" y="0"/>
                    <a:pt x="111379" y="0"/>
                  </a:cubicBezTo>
                  <a:lnTo>
                    <a:pt x="3748151" y="0"/>
                  </a:lnTo>
                  <a:cubicBezTo>
                    <a:pt x="3809619" y="0"/>
                    <a:pt x="3859530" y="49911"/>
                    <a:pt x="3859530" y="111379"/>
                  </a:cubicBezTo>
                  <a:lnTo>
                    <a:pt x="3859530" y="1187831"/>
                  </a:lnTo>
                  <a:cubicBezTo>
                    <a:pt x="3859530" y="1249299"/>
                    <a:pt x="3809619" y="1299210"/>
                    <a:pt x="3748151" y="1299210"/>
                  </a:cubicBezTo>
                  <a:lnTo>
                    <a:pt x="111379" y="1299210"/>
                  </a:lnTo>
                  <a:cubicBezTo>
                    <a:pt x="49911" y="1299210"/>
                    <a:pt x="0" y="1249299"/>
                    <a:pt x="0" y="1187831"/>
                  </a:cubicBezTo>
                  <a:close/>
                </a:path>
              </a:pathLst>
            </a:custGeom>
            <a:solidFill>
              <a:srgbClr val="F1EFE8"/>
            </a:solidFill>
            <a:ln w="14288" cap="sq">
              <a:solidFill>
                <a:srgbClr val="D3D1C7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3167360" y="8778240"/>
            <a:ext cx="2880360" cy="960120"/>
            <a:chOff x="0" y="0"/>
            <a:chExt cx="3840480" cy="128016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840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38404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62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fact_performance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Returns, Sharpe, etc.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551795" y="8220075"/>
            <a:ext cx="2625090" cy="1047750"/>
            <a:chOff x="0" y="0"/>
            <a:chExt cx="3500120" cy="13970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50012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500120">
                  <a:moveTo>
                    <a:pt x="0" y="1397000"/>
                  </a:moveTo>
                  <a:lnTo>
                    <a:pt x="350012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209" t="0" r="-1209" b="0"/>
              </a:stretch>
            </a:blipFill>
            <a:ln w="19050" cap="sq">
              <a:solidFill>
                <a:srgbClr val="B4B2A9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287000" cy="1234440"/>
            <a:chOff x="0" y="0"/>
            <a:chExt cx="1371600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37160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SIP inflows hit an all-time high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331720"/>
            <a:ext cx="6309360" cy="7132320"/>
            <a:chOff x="0" y="0"/>
            <a:chExt cx="8412480" cy="95097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412480" cy="9509760"/>
            </a:xfrm>
            <a:custGeom>
              <a:avLst/>
              <a:gdLst/>
              <a:ahLst/>
              <a:cxnLst/>
              <a:rect r="r" b="b" t="t" l="l"/>
              <a:pathLst>
                <a:path h="950976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509760"/>
                  </a:lnTo>
                  <a:lnTo>
                    <a:pt x="0" y="9509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5038" t="0" r="-95038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19075"/>
              <a:ext cx="8412480" cy="9728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000" b="true">
                  <a:solidFill>
                    <a:srgbClr val="534AB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2.4× growth</a:t>
              </a:r>
            </a:p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 monthly SIP inflows</a:t>
              </a:r>
            </a:p>
            <a:p>
              <a:pPr algn="l">
                <a:lnSpc>
                  <a:spcPts val="1655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₹12,900 Cr (Jan 2022) to ₹31,002 Cr (Dec 2025) — a clear signal of sustained retail SIP adoption across the Indian mutual fund industry.</a:t>
              </a:r>
            </a:p>
            <a:p>
              <a:pPr algn="l">
                <a:lnSpc>
                  <a:spcPts val="1655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December 2025 marks the all-time high, with a steady upward trend through 2024–2025.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0" y="1371600"/>
            <a:ext cx="11521440" cy="740664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7818120" y="8092440"/>
            <a:ext cx="9601200" cy="1577340"/>
            <a:chOff x="0" y="0"/>
            <a:chExt cx="12801600" cy="2103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01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12801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2655296" y="0"/>
                  </a:lnTo>
                  <a:cubicBezTo>
                    <a:pt x="12736068" y="0"/>
                    <a:pt x="12801600" y="65532"/>
                    <a:pt x="12801600" y="146304"/>
                  </a:cubicBezTo>
                  <a:lnTo>
                    <a:pt x="12801600" y="1956816"/>
                  </a:lnTo>
                  <a:cubicBezTo>
                    <a:pt x="12801600" y="2037588"/>
                    <a:pt x="12736068" y="2103120"/>
                    <a:pt x="12655296" y="2103120"/>
                  </a:cubicBezTo>
                  <a:lnTo>
                    <a:pt x="146304" y="2103120"/>
                  </a:lnTo>
                  <a:cubicBezTo>
                    <a:pt x="65532" y="2103120"/>
                    <a:pt x="0" y="2037588"/>
                    <a:pt x="0" y="1956816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161020" y="8092440"/>
            <a:ext cx="8915400" cy="1577340"/>
            <a:chOff x="0" y="0"/>
            <a:chExt cx="11887200" cy="2103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872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132" r="0" b="-6013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1887200" cy="2150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D9E7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₹31,002 Cr  </a:t>
              </a:r>
              <a:r>
                <a:rPr lang="en-US" sz="2100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all-time high SIP inflow recorded in December 2025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1234440"/>
            <a:chOff x="0" y="0"/>
            <a:chExt cx="217627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7627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SBI Mutual Fund leads industry AUM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920240"/>
            <a:ext cx="16322040" cy="685800"/>
            <a:chOff x="0" y="0"/>
            <a:chExt cx="2176272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5F5E5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Total assets under management by fund house, 2025 (₹ lakh crore)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3444" y="1728216"/>
            <a:ext cx="13002768" cy="8956548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2138660" y="2811780"/>
            <a:ext cx="5143500" cy="2331720"/>
            <a:chOff x="0" y="0"/>
            <a:chExt cx="6858000" cy="31089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58000" cy="3108960"/>
            </a:xfrm>
            <a:custGeom>
              <a:avLst/>
              <a:gdLst/>
              <a:ahLst/>
              <a:cxnLst/>
              <a:rect r="r" b="b" t="t" l="l"/>
              <a:pathLst>
                <a:path h="310896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2962656"/>
                  </a:lnTo>
                  <a:cubicBezTo>
                    <a:pt x="6858000" y="3043428"/>
                    <a:pt x="6792468" y="3108960"/>
                    <a:pt x="6711696" y="3108960"/>
                  </a:cubicBezTo>
                  <a:lnTo>
                    <a:pt x="146304" y="3108960"/>
                  </a:lnTo>
                  <a:cubicBezTo>
                    <a:pt x="65532" y="3108960"/>
                    <a:pt x="0" y="3043428"/>
                    <a:pt x="0" y="296265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481560" y="2811780"/>
            <a:ext cx="4457700" cy="2331720"/>
            <a:chOff x="0" y="0"/>
            <a:chExt cx="5943600" cy="3108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43600" cy="3108960"/>
            </a:xfrm>
            <a:custGeom>
              <a:avLst/>
              <a:gdLst/>
              <a:ahLst/>
              <a:cxnLst/>
              <a:rect r="r" b="b" t="t" l="l"/>
              <a:pathLst>
                <a:path h="31089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112" t="0" r="-1711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5943600" cy="3194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₹12.5L Cr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SBI Mutual Fund — industry-leading AUM in 2025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38660" y="5417820"/>
            <a:ext cx="5143500" cy="2331720"/>
            <a:chOff x="0" y="0"/>
            <a:chExt cx="6858000" cy="3108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0" cy="3108960"/>
            </a:xfrm>
            <a:custGeom>
              <a:avLst/>
              <a:gdLst/>
              <a:ahLst/>
              <a:cxnLst/>
              <a:rect r="r" b="b" t="t" l="l"/>
              <a:pathLst>
                <a:path h="310896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2962656"/>
                  </a:lnTo>
                  <a:cubicBezTo>
                    <a:pt x="6858000" y="3043428"/>
                    <a:pt x="6792468" y="3108960"/>
                    <a:pt x="6711696" y="3108960"/>
                  </a:cubicBezTo>
                  <a:lnTo>
                    <a:pt x="146304" y="3108960"/>
                  </a:lnTo>
                  <a:cubicBezTo>
                    <a:pt x="65532" y="3108960"/>
                    <a:pt x="0" y="3043428"/>
                    <a:pt x="0" y="2962656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481560" y="5417820"/>
            <a:ext cx="4457700" cy="2331720"/>
            <a:chOff x="0" y="0"/>
            <a:chExt cx="5943600" cy="3108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43600" cy="3108960"/>
            </a:xfrm>
            <a:custGeom>
              <a:avLst/>
              <a:gdLst/>
              <a:ahLst/>
              <a:cxnLst/>
              <a:rect r="r" b="b" t="t" l="l"/>
              <a:pathLst>
                <a:path h="31089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112" t="0" r="-1711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5943600" cy="3194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534AB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∼1.7×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SBI's lead over the second-largest AMC (HDFC, ₹7.2L Cr)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138660" y="8023860"/>
            <a:ext cx="5143500" cy="1577340"/>
            <a:chOff x="0" y="0"/>
            <a:chExt cx="6858000" cy="2103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580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1956816"/>
                  </a:lnTo>
                  <a:cubicBezTo>
                    <a:pt x="6858000" y="2037588"/>
                    <a:pt x="6792468" y="2103120"/>
                    <a:pt x="6711696" y="2103120"/>
                  </a:cubicBezTo>
                  <a:lnTo>
                    <a:pt x="146304" y="2103120"/>
                  </a:lnTo>
                  <a:cubicBezTo>
                    <a:pt x="65532" y="2103120"/>
                    <a:pt x="0" y="2037588"/>
                    <a:pt x="0" y="1956816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481560" y="8023860"/>
            <a:ext cx="4457700" cy="1577340"/>
            <a:chOff x="0" y="0"/>
            <a:chExt cx="5943600" cy="2103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43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6" r="0" b="-506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5943600" cy="2150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5F5E5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Bank-led distribution networks are a key driver of AUM concentration among top AMCs.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1234440"/>
            <a:chOff x="0" y="0"/>
            <a:chExt cx="217627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7627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Fund performance: CAGR &amp; risk-adjusted returns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920240"/>
            <a:ext cx="16322040" cy="685800"/>
            <a:chOff x="0" y="0"/>
            <a:chExt cx="2176272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5F5E5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Top 5 funds by 3-year CAGR, with Sharpe ratio for risk-adjusted comparison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60120" y="2880360"/>
          <a:ext cx="16249650" cy="3429000"/>
        </p:xfrm>
        <a:graphic>
          <a:graphicData uri="http://schemas.openxmlformats.org/drawingml/2006/table">
            <a:tbl>
              <a:tblPr/>
              <a:tblGrid>
                <a:gridCol w="6392132"/>
                <a:gridCol w="1971504"/>
                <a:gridCol w="1971504"/>
                <a:gridCol w="1971504"/>
                <a:gridCol w="1971504"/>
                <a:gridCol w="1971504"/>
              </a:tblGrid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Scheme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1Y CAGR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3Y CAGR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Sharpe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Rank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Axis Midcap Fund — Regular — Growth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22.26%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35.11%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81.38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ABSL Frontline Equity Fund — Regular — Growth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47.92%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28.97%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59.31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Axis Bluechip Fund — Direct — Growth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19.77%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20.82%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-0.05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52.88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ABSL Small Cap Fund — Regular — Growth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-23.99%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-4.15%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30.81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ABSL Liquid Fund — Regular — Growth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7.24%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6.32%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-4.64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23.50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960120" y="6858000"/>
            <a:ext cx="7955280" cy="2743200"/>
            <a:chOff x="0" y="0"/>
            <a:chExt cx="10607040" cy="3657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070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6070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460736" y="0"/>
                  </a:lnTo>
                  <a:cubicBezTo>
                    <a:pt x="10541508" y="0"/>
                    <a:pt x="10607040" y="65532"/>
                    <a:pt x="10607040" y="146304"/>
                  </a:cubicBezTo>
                  <a:lnTo>
                    <a:pt x="10607040" y="3511296"/>
                  </a:lnTo>
                  <a:cubicBezTo>
                    <a:pt x="10607040" y="3592068"/>
                    <a:pt x="10541508" y="3657600"/>
                    <a:pt x="10460736" y="3657600"/>
                  </a:cubicBezTo>
                  <a:lnTo>
                    <a:pt x="146304" y="3657600"/>
                  </a:lnTo>
                  <a:cubicBezTo>
                    <a:pt x="65532" y="3657600"/>
                    <a:pt x="0" y="3592068"/>
                    <a:pt x="0" y="3511296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03020" y="6858000"/>
            <a:ext cx="7269480" cy="2743200"/>
            <a:chOff x="0" y="0"/>
            <a:chExt cx="9692640" cy="3657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92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5" r="0" b="-163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9692640" cy="3743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D9E7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1.24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Highest Sharpe ratio in the portfolio — SBI Bluechip Direct, indicating the best return per unit of risk among all 40 schemes.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58300" y="6858000"/>
            <a:ext cx="8023860" cy="2743200"/>
            <a:chOff x="0" y="0"/>
            <a:chExt cx="10698480" cy="3657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984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3511296"/>
                  </a:lnTo>
                  <a:cubicBezTo>
                    <a:pt x="10698480" y="3592068"/>
                    <a:pt x="10632948" y="3657600"/>
                    <a:pt x="10552176" y="3657600"/>
                  </a:cubicBezTo>
                  <a:lnTo>
                    <a:pt x="146304" y="3657600"/>
                  </a:lnTo>
                  <a:cubicBezTo>
                    <a:pt x="65532" y="3657600"/>
                    <a:pt x="0" y="3592068"/>
                    <a:pt x="0" y="351129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01200" y="6858000"/>
            <a:ext cx="7338060" cy="2743200"/>
            <a:chOff x="0" y="0"/>
            <a:chExt cx="9784080" cy="3657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840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22" r="0" b="-212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784080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Axis Midcap Fund tops the scorecard 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with the highest composite score (81.38/100) — driven by a 35.11% 3-year CAGR and the strongest Sharpe ratio (0.73) among top performers.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1234440"/>
            <a:chOff x="0" y="0"/>
            <a:chExt cx="217627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7627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Fund scorecard: composite ranking methodology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920240"/>
            <a:ext cx="16322040" cy="685800"/>
            <a:chOff x="0" y="0"/>
            <a:chExt cx="2176272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5F5E5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Each fund's score (0–100) is a weighted blend of five percentile-ranked components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3154680"/>
            <a:ext cx="4896612" cy="822960"/>
            <a:chOff x="0" y="0"/>
            <a:chExt cx="6528816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28816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28816">
                  <a:moveTo>
                    <a:pt x="0" y="0"/>
                  </a:moveTo>
                  <a:lnTo>
                    <a:pt x="6528816" y="0"/>
                  </a:lnTo>
                  <a:lnTo>
                    <a:pt x="6528816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534AB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3154680"/>
            <a:ext cx="4896612" cy="822960"/>
            <a:chOff x="0" y="0"/>
            <a:chExt cx="6528816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28816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28816">
                  <a:moveTo>
                    <a:pt x="0" y="0"/>
                  </a:moveTo>
                  <a:lnTo>
                    <a:pt x="6528816" y="0"/>
                  </a:lnTo>
                  <a:lnTo>
                    <a:pt x="652881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935" r="0" b="-6593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6528816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30%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0120" y="4087368"/>
            <a:ext cx="4896612" cy="548640"/>
            <a:chOff x="0" y="0"/>
            <a:chExt cx="6528816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28816" cy="731520"/>
            </a:xfrm>
            <a:custGeom>
              <a:avLst/>
              <a:gdLst/>
              <a:ahLst/>
              <a:cxnLst/>
              <a:rect r="r" b="b" t="t" l="l"/>
              <a:pathLst>
                <a:path h="731520" w="6528816">
                  <a:moveTo>
                    <a:pt x="0" y="0"/>
                  </a:moveTo>
                  <a:lnTo>
                    <a:pt x="6528816" y="0"/>
                  </a:lnTo>
                  <a:lnTo>
                    <a:pt x="652881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03" r="0" b="-12390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6528816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3Y CAGR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856732" y="3154680"/>
            <a:ext cx="4080510" cy="822960"/>
            <a:chOff x="0" y="0"/>
            <a:chExt cx="544068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40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40680">
                  <a:moveTo>
                    <a:pt x="0" y="0"/>
                  </a:moveTo>
                  <a:lnTo>
                    <a:pt x="5440680" y="0"/>
                  </a:lnTo>
                  <a:lnTo>
                    <a:pt x="54406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7F77D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856732" y="3154680"/>
            <a:ext cx="4080510" cy="822960"/>
            <a:chOff x="0" y="0"/>
            <a:chExt cx="544068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40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40680">
                  <a:moveTo>
                    <a:pt x="0" y="0"/>
                  </a:moveTo>
                  <a:lnTo>
                    <a:pt x="5440680" y="0"/>
                  </a:lnTo>
                  <a:lnTo>
                    <a:pt x="5440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613" r="0" b="-4661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54406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25%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856732" y="4087368"/>
            <a:ext cx="4080510" cy="548640"/>
            <a:chOff x="0" y="0"/>
            <a:chExt cx="544068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40680" cy="731520"/>
            </a:xfrm>
            <a:custGeom>
              <a:avLst/>
              <a:gdLst/>
              <a:ahLst/>
              <a:cxnLst/>
              <a:rect r="r" b="b" t="t" l="l"/>
              <a:pathLst>
                <a:path h="731520" w="5440680">
                  <a:moveTo>
                    <a:pt x="0" y="0"/>
                  </a:moveTo>
                  <a:lnTo>
                    <a:pt x="5440680" y="0"/>
                  </a:lnTo>
                  <a:lnTo>
                    <a:pt x="5440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919" r="0" b="-9491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4406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Sharpe ratio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937242" y="3154680"/>
            <a:ext cx="3264408" cy="822960"/>
            <a:chOff x="0" y="0"/>
            <a:chExt cx="4352544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52544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52544">
                  <a:moveTo>
                    <a:pt x="0" y="0"/>
                  </a:moveTo>
                  <a:lnTo>
                    <a:pt x="4352544" y="0"/>
                  </a:lnTo>
                  <a:lnTo>
                    <a:pt x="4352544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D9E7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937242" y="3154680"/>
            <a:ext cx="3264408" cy="822960"/>
            <a:chOff x="0" y="0"/>
            <a:chExt cx="4352544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52544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52544">
                  <a:moveTo>
                    <a:pt x="0" y="0"/>
                  </a:moveTo>
                  <a:lnTo>
                    <a:pt x="4352544" y="0"/>
                  </a:lnTo>
                  <a:lnTo>
                    <a:pt x="435254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90" r="0" b="-2729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352544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937242" y="4087368"/>
            <a:ext cx="3264408" cy="548640"/>
            <a:chOff x="0" y="0"/>
            <a:chExt cx="4352544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52544" cy="731520"/>
            </a:xfrm>
            <a:custGeom>
              <a:avLst/>
              <a:gdLst/>
              <a:ahLst/>
              <a:cxnLst/>
              <a:rect r="r" b="b" t="t" l="l"/>
              <a:pathLst>
                <a:path h="731520" w="4352544">
                  <a:moveTo>
                    <a:pt x="0" y="0"/>
                  </a:moveTo>
                  <a:lnTo>
                    <a:pt x="4352544" y="0"/>
                  </a:lnTo>
                  <a:lnTo>
                    <a:pt x="4352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935" r="0" b="-6593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4352544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Alpha (annual)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201650" y="3154680"/>
            <a:ext cx="2448306" cy="822960"/>
            <a:chOff x="0" y="0"/>
            <a:chExt cx="3264408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644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264408">
                  <a:moveTo>
                    <a:pt x="0" y="0"/>
                  </a:moveTo>
                  <a:lnTo>
                    <a:pt x="3264408" y="0"/>
                  </a:lnTo>
                  <a:lnTo>
                    <a:pt x="3264408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9FE1C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201650" y="3154680"/>
            <a:ext cx="2448306" cy="822960"/>
            <a:chOff x="0" y="0"/>
            <a:chExt cx="3264408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644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264408">
                  <a:moveTo>
                    <a:pt x="0" y="0"/>
                  </a:moveTo>
                  <a:lnTo>
                    <a:pt x="3264408" y="0"/>
                  </a:lnTo>
                  <a:lnTo>
                    <a:pt x="32644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67" r="0" b="-796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3264408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15%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201650" y="4087368"/>
            <a:ext cx="2448306" cy="548640"/>
            <a:chOff x="0" y="0"/>
            <a:chExt cx="3264408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264408" cy="731520"/>
            </a:xfrm>
            <a:custGeom>
              <a:avLst/>
              <a:gdLst/>
              <a:ahLst/>
              <a:cxnLst/>
              <a:rect r="r" b="b" t="t" l="l"/>
              <a:pathLst>
                <a:path h="731520" w="3264408">
                  <a:moveTo>
                    <a:pt x="0" y="0"/>
                  </a:moveTo>
                  <a:lnTo>
                    <a:pt x="3264408" y="0"/>
                  </a:lnTo>
                  <a:lnTo>
                    <a:pt x="3264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951" r="0" b="-3695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264408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Expense ratio (inv.)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649956" y="3154680"/>
            <a:ext cx="1632204" cy="822960"/>
            <a:chOff x="0" y="0"/>
            <a:chExt cx="2176272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76272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">
                  <a:moveTo>
                    <a:pt x="0" y="0"/>
                  </a:moveTo>
                  <a:lnTo>
                    <a:pt x="2176272" y="0"/>
                  </a:lnTo>
                  <a:lnTo>
                    <a:pt x="2176272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B4B2A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5649956" y="3154680"/>
            <a:ext cx="1632204" cy="822960"/>
            <a:chOff x="0" y="0"/>
            <a:chExt cx="2176272" cy="1097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76272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">
                  <a:moveTo>
                    <a:pt x="0" y="0"/>
                  </a:moveTo>
                  <a:lnTo>
                    <a:pt x="2176272" y="0"/>
                  </a:lnTo>
                  <a:lnTo>
                    <a:pt x="217627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690" t="0" r="-1469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176272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10%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649956" y="4087368"/>
            <a:ext cx="1632204" cy="548640"/>
            <a:chOff x="0" y="0"/>
            <a:chExt cx="2176272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76272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">
                  <a:moveTo>
                    <a:pt x="0" y="0"/>
                  </a:moveTo>
                  <a:lnTo>
                    <a:pt x="2176272" y="0"/>
                  </a:lnTo>
                  <a:lnTo>
                    <a:pt x="21762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67" r="0" b="-796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2176272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F5E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 drawdown (inv.)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60120" y="4800600"/>
            <a:ext cx="16322040" cy="548640"/>
            <a:chOff x="0" y="0"/>
            <a:chExt cx="2176272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217627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F5E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Score = 0.30×CAGR3Y_rank + 0.25×Sharpe_rank + 0.20×Alpha_rank + 0.15×(1−ExpenseRatio_rank) + 0.10×(1−MaxDD_rank)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60120" y="5623560"/>
            <a:ext cx="16322040" cy="548640"/>
            <a:chOff x="0" y="0"/>
            <a:chExt cx="2176272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1762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5 funds by composite score</a:t>
              </a:r>
            </a:p>
          </p:txBody>
        </p:sp>
      </p:grpSp>
      <p:graphicFrame>
        <p:nvGraphicFramePr>
          <p:cNvPr name="Table 54" id="54"/>
          <p:cNvGraphicFramePr>
            <a:graphicFrameLocks noGrp="true"/>
          </p:cNvGraphicFramePr>
          <p:nvPr/>
        </p:nvGraphicFramePr>
        <p:xfrm>
          <a:off x="960120" y="6240780"/>
          <a:ext cx="16249650" cy="3314700"/>
        </p:xfrm>
        <a:graphic>
          <a:graphicData uri="http://schemas.openxmlformats.org/drawingml/2006/table">
            <a:tbl>
              <a:tblPr/>
              <a:tblGrid>
                <a:gridCol w="1103650"/>
                <a:gridCol w="7341346"/>
                <a:gridCol w="1917263"/>
                <a:gridCol w="1917263"/>
                <a:gridCol w="2052865"/>
                <a:gridCol w="1917263"/>
              </a:tblGrid>
              <a:tr h="5524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Rank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Scheme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3Y CAGR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Sharpe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Alpha (ann.)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524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Axis Midcap Fund — Regular — Growth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35.11%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26.00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81.38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4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ABSL Frontline Equity Fund — Regular — Growth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28.97%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21.39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59.31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4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Axis Bluechip Fund — Direct — Growth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20.82%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-0.05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8.33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52.88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4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Mirae Asset Large Cap Fund — Regular — Growth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34.00%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27.12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79.38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4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ICICI Pru Midcap Fund — Regular — Growth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31.78%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29.30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621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84.50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48640"/>
            <a:ext cx="16322040" cy="1097280"/>
            <a:chOff x="0" y="0"/>
            <a:chExt cx="217627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76272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Dashboard — Industry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577340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762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F5E5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Power BI Page 1 — KPI cards, AUM trend, and AMC comparison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42871" y="2331720"/>
            <a:ext cx="14401800" cy="7912208"/>
            <a:chOff x="0" y="0"/>
            <a:chExt cx="19202400" cy="10549611"/>
          </a:xfrm>
        </p:grpSpPr>
        <p:sp>
          <p:nvSpPr>
            <p:cNvPr name="Freeform 9" id="9" descr="/home/claude/dashboard_imgs/full1.png"/>
            <p:cNvSpPr/>
            <p:nvPr/>
          </p:nvSpPr>
          <p:spPr>
            <a:xfrm flipH="false" flipV="false" rot="0">
              <a:off x="0" y="0"/>
              <a:ext cx="19202400" cy="10549636"/>
            </a:xfrm>
            <a:custGeom>
              <a:avLst/>
              <a:gdLst/>
              <a:ahLst/>
              <a:cxnLst/>
              <a:rect r="r" b="b" t="t" l="l"/>
              <a:pathLst>
                <a:path h="10549636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549636"/>
                  </a:lnTo>
                  <a:lnTo>
                    <a:pt x="0" y="10549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48640"/>
            <a:ext cx="16322040" cy="1097280"/>
            <a:chOff x="0" y="0"/>
            <a:chExt cx="217627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76272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Dashboard — Fund Performance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577340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762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F5E5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Power BI Page 2 — Scorecard table, return vs. risk, and NAV vs. benchmark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42871" y="2331720"/>
            <a:ext cx="14401800" cy="7912208"/>
            <a:chOff x="0" y="0"/>
            <a:chExt cx="19202400" cy="10549611"/>
          </a:xfrm>
        </p:grpSpPr>
        <p:sp>
          <p:nvSpPr>
            <p:cNvPr name="Freeform 9" id="9" descr="/home/claude/dashboard_imgs/full2.png"/>
            <p:cNvSpPr/>
            <p:nvPr/>
          </p:nvSpPr>
          <p:spPr>
            <a:xfrm flipH="false" flipV="false" rot="0">
              <a:off x="0" y="0"/>
              <a:ext cx="19202400" cy="10549636"/>
            </a:xfrm>
            <a:custGeom>
              <a:avLst/>
              <a:gdLst/>
              <a:ahLst/>
              <a:cxnLst/>
              <a:rect r="r" b="b" t="t" l="l"/>
              <a:pathLst>
                <a:path h="10549636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549636"/>
                  </a:lnTo>
                  <a:lnTo>
                    <a:pt x="0" y="10549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1234440"/>
            <a:chOff x="0" y="0"/>
            <a:chExt cx="217627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7627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findings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2980" y="1920240"/>
            <a:ext cx="16322040" cy="1440180"/>
            <a:chOff x="0" y="0"/>
            <a:chExt cx="21762720" cy="1920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17627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1652992" y="0"/>
                  </a:lnTo>
                  <a:cubicBezTo>
                    <a:pt x="21713571" y="0"/>
                    <a:pt x="21762720" y="49149"/>
                    <a:pt x="21762720" y="109728"/>
                  </a:cubicBezTo>
                  <a:lnTo>
                    <a:pt x="21762720" y="1810512"/>
                  </a:lnTo>
                  <a:cubicBezTo>
                    <a:pt x="21762720" y="1871091"/>
                    <a:pt x="21713571" y="1920240"/>
                    <a:pt x="2165299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94460" y="1920240"/>
            <a:ext cx="3566160" cy="1440180"/>
            <a:chOff x="0" y="0"/>
            <a:chExt cx="4754880" cy="1920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548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14" t="0" r="-1814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4754880" cy="1929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CADCF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2.4×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34940" y="1920240"/>
            <a:ext cx="11658600" cy="1440180"/>
            <a:chOff x="0" y="0"/>
            <a:chExt cx="15544800" cy="1920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448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736" r="0" b="-10773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54480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SIP inflows grew from ₹12,900 Cr to ₹31,002 Cr (Jan 2022 – Dec 2025)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2980" y="3470148"/>
            <a:ext cx="16322040" cy="1440180"/>
            <a:chOff x="0" y="0"/>
            <a:chExt cx="21762720" cy="19202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627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17627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1652992" y="0"/>
                  </a:lnTo>
                  <a:cubicBezTo>
                    <a:pt x="21713571" y="0"/>
                    <a:pt x="21762720" y="49149"/>
                    <a:pt x="21762720" y="109728"/>
                  </a:cubicBezTo>
                  <a:lnTo>
                    <a:pt x="21762720" y="1810512"/>
                  </a:lnTo>
                  <a:cubicBezTo>
                    <a:pt x="21762720" y="1871091"/>
                    <a:pt x="21713571" y="1920240"/>
                    <a:pt x="2165299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94460" y="3470148"/>
            <a:ext cx="3566160" cy="1440180"/>
            <a:chOff x="0" y="0"/>
            <a:chExt cx="4754880" cy="1920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548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14" t="0" r="-181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4754880" cy="1929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CADCF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₹12.5L Cr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234940" y="3470148"/>
            <a:ext cx="11658600" cy="1440180"/>
            <a:chOff x="0" y="0"/>
            <a:chExt cx="15544800" cy="1920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448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736" r="0" b="-10773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54480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SBI Mutual Fund leads industry AUM — nearly 1.7× the next-largest AMC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82980" y="5020056"/>
            <a:ext cx="16322040" cy="1440180"/>
            <a:chOff x="0" y="0"/>
            <a:chExt cx="21762720" cy="19202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627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17627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1652992" y="0"/>
                  </a:lnTo>
                  <a:cubicBezTo>
                    <a:pt x="21713571" y="0"/>
                    <a:pt x="21762720" y="49149"/>
                    <a:pt x="21762720" y="109728"/>
                  </a:cubicBezTo>
                  <a:lnTo>
                    <a:pt x="21762720" y="1810512"/>
                  </a:lnTo>
                  <a:cubicBezTo>
                    <a:pt x="21762720" y="1871091"/>
                    <a:pt x="21713571" y="1920240"/>
                    <a:pt x="2165299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94460" y="5020056"/>
            <a:ext cx="3566160" cy="1440180"/>
            <a:chOff x="0" y="0"/>
            <a:chExt cx="4754880" cy="1920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548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14" t="0" r="-181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4754880" cy="1929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CADCF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1.24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234940" y="5020056"/>
            <a:ext cx="11658600" cy="1440180"/>
            <a:chOff x="0" y="0"/>
            <a:chExt cx="15544800" cy="1920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5448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736" r="0" b="-10773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554480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 Sharpe ratio achieved by SBI Bluechip Direct — best risk-adjusted return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82980" y="6569964"/>
            <a:ext cx="16322040" cy="1440180"/>
            <a:chOff x="0" y="0"/>
            <a:chExt cx="21762720" cy="1920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7627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17627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1652992" y="0"/>
                  </a:lnTo>
                  <a:cubicBezTo>
                    <a:pt x="21713571" y="0"/>
                    <a:pt x="21762720" y="49149"/>
                    <a:pt x="21762720" y="109728"/>
                  </a:cubicBezTo>
                  <a:lnTo>
                    <a:pt x="21762720" y="1810512"/>
                  </a:lnTo>
                  <a:cubicBezTo>
                    <a:pt x="21762720" y="1871091"/>
                    <a:pt x="21713571" y="1920240"/>
                    <a:pt x="2165299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94460" y="6569964"/>
            <a:ext cx="3566160" cy="1440180"/>
            <a:chOff x="0" y="0"/>
            <a:chExt cx="4754880" cy="1920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548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14" t="0" r="-1814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4754880" cy="1929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CADCF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27%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234940" y="6569964"/>
            <a:ext cx="11658600" cy="1440180"/>
            <a:chOff x="0" y="0"/>
            <a:chExt cx="15544800" cy="19202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5448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736" r="0" b="-10773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554480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 regular SIP investors are flagged “at-risk” (avg. payment gap &gt; 35 days)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82980" y="8119872"/>
            <a:ext cx="16322040" cy="1440180"/>
            <a:chOff x="0" y="0"/>
            <a:chExt cx="21762720" cy="19202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7627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17627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1652992" y="0"/>
                  </a:lnTo>
                  <a:cubicBezTo>
                    <a:pt x="21713571" y="0"/>
                    <a:pt x="21762720" y="49149"/>
                    <a:pt x="21762720" y="109728"/>
                  </a:cubicBezTo>
                  <a:lnTo>
                    <a:pt x="21762720" y="1810512"/>
                  </a:lnTo>
                  <a:cubicBezTo>
                    <a:pt x="21762720" y="1871091"/>
                    <a:pt x="21713571" y="1920240"/>
                    <a:pt x="2165299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94460" y="8119872"/>
            <a:ext cx="3566160" cy="1440180"/>
            <a:chOff x="0" y="0"/>
            <a:chExt cx="4754880" cy="19202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548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14" t="0" r="-1814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4754880" cy="1929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CADCF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26.12 Cr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234940" y="8119872"/>
            <a:ext cx="11658600" cy="1440180"/>
            <a:chOff x="0" y="0"/>
            <a:chExt cx="15544800" cy="19202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5448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736" r="0" b="-10773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554480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industry folio count in Dec 2025 — double the 13.26 Cr recorded in Jan 2022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13280" y="-2057400"/>
            <a:ext cx="5486400" cy="5486400"/>
            <a:chOff x="0" y="0"/>
            <a:chExt cx="7315200" cy="731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534AB7">
                <a:alpha val="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057400" y="6858000"/>
            <a:ext cx="4800600" cy="4800600"/>
            <a:chOff x="0" y="0"/>
            <a:chExt cx="6400800" cy="640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00800" cy="6400800"/>
            </a:xfrm>
            <a:custGeom>
              <a:avLst/>
              <a:gdLst/>
              <a:ahLst/>
              <a:cxnLst/>
              <a:rect r="r" b="b" t="t" l="l"/>
              <a:pathLst>
                <a:path h="6400800" w="6400800">
                  <a:moveTo>
                    <a:pt x="0" y="3200400"/>
                  </a:moveTo>
                  <a:cubicBezTo>
                    <a:pt x="0" y="1432814"/>
                    <a:pt x="1432814" y="0"/>
                    <a:pt x="3200400" y="0"/>
                  </a:cubicBezTo>
                  <a:cubicBezTo>
                    <a:pt x="4967986" y="0"/>
                    <a:pt x="6400800" y="1432814"/>
                    <a:pt x="6400800" y="3200400"/>
                  </a:cubicBezTo>
                  <a:cubicBezTo>
                    <a:pt x="6400800" y="4967986"/>
                    <a:pt x="4967986" y="6400800"/>
                    <a:pt x="3200400" y="6400800"/>
                  </a:cubicBezTo>
                  <a:cubicBezTo>
                    <a:pt x="1432814" y="6400800"/>
                    <a:pt x="0" y="4967986"/>
                    <a:pt x="0" y="3200400"/>
                  </a:cubicBezTo>
                  <a:close/>
                </a:path>
              </a:pathLst>
            </a:custGeom>
            <a:solidFill>
              <a:srgbClr val="1D9E75">
                <a:alpha val="588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3360420"/>
            <a:ext cx="15773400" cy="1783080"/>
            <a:chOff x="0" y="0"/>
            <a:chExt cx="21031200" cy="2377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367" r="0" b="-12236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03120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6309360"/>
            <a:ext cx="13030200" cy="3291840"/>
            <a:chOff x="0" y="0"/>
            <a:chExt cx="17373600" cy="4389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736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28" r="0" b="-2712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52400"/>
              <a:ext cx="17373600" cy="454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12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Anwesha Ghosh</a:t>
              </a:r>
            </a:p>
            <a:p>
              <a:pPr algn="l">
                <a:lnSpc>
                  <a:spcPts val="3276"/>
                </a:lnSpc>
              </a:pPr>
              <a:r>
                <a:rPr lang="en-US" sz="21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B.Tech CSE, Institute of Engineering and Management (IEM), Kolkata</a:t>
              </a:r>
            </a:p>
            <a:p>
              <a:pPr algn="l">
                <a:lnSpc>
                  <a:spcPts val="3276"/>
                </a:lnSpc>
              </a:pPr>
              <a:r>
                <a:rPr lang="en-US" sz="21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Analyst Intern, Bluestock Fintech</a:t>
              </a:r>
            </a:p>
            <a:p>
              <a:pPr algn="l">
                <a:lnSpc>
                  <a:spcPts val="1872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</a:p>
            <a:p>
              <a:pPr algn="l">
                <a:lnSpc>
                  <a:spcPts val="3276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GitHub: </a:t>
              </a:r>
              <a:r>
                <a:rPr lang="en-US" sz="2100" u="sng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3" tooltip="https://github.com/anweshaghosh06/bluestock-mutual-fund-analytics-platform"/>
                </a:rPr>
                <a:t>github.com/anweshaghosh06/bluestock-mf-capstone</a:t>
              </a:r>
            </a:p>
            <a:p>
              <a:pPr algn="l">
                <a:lnSpc>
                  <a:spcPts val="3276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Email: anweshagh1906@gmail.com</a:t>
              </a:r>
            </a:p>
            <a:p>
              <a:pPr algn="l">
                <a:lnSpc>
                  <a:spcPts val="3276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LinkedIn: https://www.linkedin.com/in/anwesha-ghosh-666848333/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DAHMkBiRoSE</dc:identifier>
  <dcterms:modified xsi:type="dcterms:W3CDTF">2011-08-01T06:04:30Z</dcterms:modified>
  <cp:revision>1</cp:revision>
  <dc:title>Mutual Fund Analytics Platform</dc:title>
</cp:coreProperties>
</file>